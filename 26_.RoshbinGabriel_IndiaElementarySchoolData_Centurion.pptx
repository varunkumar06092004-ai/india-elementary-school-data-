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kumar" userId="f8d4d7f9af3c0f00" providerId="LiveId" clId="{EA3B5830-58D5-444D-A95C-ACF72F2A5A78}"/>
    <pc:docChg chg="modSld">
      <pc:chgData name="Varun kumar" userId="f8d4d7f9af3c0f00" providerId="LiveId" clId="{EA3B5830-58D5-444D-A95C-ACF72F2A5A78}" dt="2025-11-04T02:15:47.327" v="1" actId="20577"/>
      <pc:docMkLst>
        <pc:docMk/>
      </pc:docMkLst>
      <pc:sldChg chg="modSp mod">
        <pc:chgData name="Varun kumar" userId="f8d4d7f9af3c0f00" providerId="LiveId" clId="{EA3B5830-58D5-444D-A95C-ACF72F2A5A78}" dt="2025-11-04T02:15:47.327" v="1" actId="20577"/>
        <pc:sldMkLst>
          <pc:docMk/>
          <pc:sldMk cId="3550287515" sldId="256"/>
        </pc:sldMkLst>
        <pc:spChg chg="mod">
          <ac:chgData name="Varun kumar" userId="f8d4d7f9af3c0f00" providerId="LiveId" clId="{EA3B5830-58D5-444D-A95C-ACF72F2A5A78}" dt="2025-11-04T02:15:47.327" v="1" actId="20577"/>
          <ac:spMkLst>
            <pc:docMk/>
            <pc:sldMk cId="3550287515" sldId="256"/>
            <ac:spMk id="3" creationId="{57313BD9-3F69-491E-B9EE-7117A081DF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94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07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20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18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58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5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319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80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13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72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047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8572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593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55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025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7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60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D909A-6C07-4D01-AD33-B86490D1DD0F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4A110-C2F8-4B2E-ACA8-64A8E5BF8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0670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5C83-FBFA-44BC-BF29-FC37E756E1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Team name </a:t>
            </a:r>
            <a:r>
              <a:rPr lang="en-US" sz="2800" dirty="0"/>
              <a:t>: the  measure makers 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13BD9-3F69-491E-B9EE-7117A081D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2086972"/>
          </a:xfrm>
        </p:spPr>
        <p:txBody>
          <a:bodyPr>
            <a:normAutofit/>
          </a:bodyPr>
          <a:lstStyle/>
          <a:p>
            <a:r>
              <a:rPr lang="en-US" sz="1600" i="1" dirty="0"/>
              <a:t>Members:</a:t>
            </a:r>
          </a:p>
          <a:p>
            <a:r>
              <a:rPr lang="en-US" sz="1600" i="1" dirty="0"/>
              <a:t>T. </a:t>
            </a:r>
            <a:r>
              <a:rPr lang="en-US" sz="1600" i="1" dirty="0" err="1"/>
              <a:t>Pranith</a:t>
            </a:r>
            <a:r>
              <a:rPr lang="en-US" sz="1600" i="1" dirty="0"/>
              <a:t> 230409120016</a:t>
            </a:r>
          </a:p>
          <a:p>
            <a:r>
              <a:rPr lang="en-US" sz="1600" i="1" dirty="0" err="1"/>
              <a:t>Roshbin</a:t>
            </a:r>
            <a:r>
              <a:rPr lang="en-US" sz="1600" i="1" dirty="0"/>
              <a:t> </a:t>
            </a:r>
            <a:r>
              <a:rPr lang="en-US" sz="1600" i="1" dirty="0" err="1"/>
              <a:t>gabriel</a:t>
            </a:r>
            <a:r>
              <a:rPr lang="en-US" sz="1600" i="1" dirty="0"/>
              <a:t> 230409120014(Leader)</a:t>
            </a:r>
          </a:p>
          <a:p>
            <a:r>
              <a:rPr lang="en-US" sz="1600" i="1" dirty="0"/>
              <a:t>M. Varun </a:t>
            </a:r>
            <a:r>
              <a:rPr lang="en-US" sz="1600" i="1" err="1"/>
              <a:t>kumar</a:t>
            </a:r>
            <a:r>
              <a:rPr lang="en-US" sz="1600" i="1"/>
              <a:t> 230409120017</a:t>
            </a:r>
            <a:endParaRPr lang="en-US" sz="1600" i="1" dirty="0"/>
          </a:p>
          <a:p>
            <a:r>
              <a:rPr lang="en-US" sz="1600" i="1" dirty="0"/>
              <a:t> Sai </a:t>
            </a:r>
            <a:r>
              <a:rPr lang="en-US" sz="1600" i="1" dirty="0" err="1"/>
              <a:t>tarun</a:t>
            </a:r>
            <a:r>
              <a:rPr lang="en-US" sz="1600" i="1" dirty="0"/>
              <a:t> 230409120020</a:t>
            </a:r>
          </a:p>
          <a:p>
            <a:r>
              <a:rPr lang="en-US" sz="1600" i="1" dirty="0" err="1"/>
              <a:t>Ayush</a:t>
            </a:r>
            <a:r>
              <a:rPr lang="en-US" sz="1600" i="1" dirty="0"/>
              <a:t> </a:t>
            </a:r>
            <a:r>
              <a:rPr lang="en-US" sz="1600" i="1" dirty="0" err="1"/>
              <a:t>kumar</a:t>
            </a:r>
            <a:r>
              <a:rPr lang="en-US" sz="1600" i="1" dirty="0"/>
              <a:t> </a:t>
            </a:r>
            <a:r>
              <a:rPr lang="en-US" sz="1600" i="1" dirty="0" err="1"/>
              <a:t>singh</a:t>
            </a:r>
            <a:r>
              <a:rPr lang="en-US" sz="1600" i="1" dirty="0"/>
              <a:t> 230409120028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55028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47AB9713-27DF-4E47-BF93-A26E3B0F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and rationale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C57BE-5D8F-477F-8D53-19D10F1E52CE}"/>
              </a:ext>
            </a:extLst>
          </p:cNvPr>
          <p:cNvSpPr txBox="1"/>
          <p:nvPr/>
        </p:nvSpPr>
        <p:spPr>
          <a:xfrm>
            <a:off x="425116" y="1961269"/>
            <a:ext cx="1142197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summarize key education indicators across India through cards— such as total schools, total teachers, and enrollment — providing a quick national snapshot of the education landscape.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analyze how different school types (Government, Private, Primary, Upper Primary) and their enrollment levels are distributed across states and districts, identifying regions with high or low participation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evaluate the availability of essential school infrastructure — including toilets, drinking water, and classroom conditions — and measure their impact on overall school performance and enrollment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assess the adequacy of teaching staff across districts, examining teacher-to-student ratios and availability of trained versus untrained teachers, highlighting areas facing staffing shortages.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analyze gender-wise enrollment (male vs female) and explore correlations between female participation, school infrastructure, and staff availability — assessing equity in educational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combine multiple education factors — teacher availability, infrastructure quality, and enrollment — into a single “Education Readiness Index (ERI)” to benchmark districts and states for policy improvement.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E31262-02F5-492F-9BA5-EFDD50230A29}"/>
              </a:ext>
            </a:extLst>
          </p:cNvPr>
          <p:cNvSpPr txBox="1"/>
          <p:nvPr/>
        </p:nvSpPr>
        <p:spPr>
          <a:xfrm>
            <a:off x="425116" y="4962091"/>
            <a:ext cx="11317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Rationale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49279244-AA6B-4617-8B86-6AB5A813D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95" y="5221705"/>
            <a:ext cx="970329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Strengthening educational infrastructure directly influences learning outcomes.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analysis provides actionable insights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planners and local education 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equitable and inclusive education aligned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SDG-4 (Quality Education)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8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FC50-C15B-4C6E-8B9C-39D0A282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800" b="1" dirty="0"/>
              <a:t>Data Understanding &amp; Cleaning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73330F-1FD9-42DB-B045-C5BF444F4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523416"/>
            <a:ext cx="9934074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 Elementary School Dataset (District/State-wise)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Records: ~600+ districts across all Indian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Columns: Teacher counts, enrollment, infrastructure (toilets, water), gender-wise attendance.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 Steps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Merged multiple CSVs with identical columns using Python (Pandas).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values and redundant “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NAN_x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/y”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Renamed inconsistent fields for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calculated fields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Teacher_Availability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_%</a:t>
            </a:r>
            <a:endParaRPr lang="en-US" alt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Infrastructure_Quality_Index</a:t>
            </a:r>
            <a:endParaRPr lang="en-US" alt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Female_Enrollment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_%</a:t>
            </a:r>
            <a:endParaRPr lang="en-US" alt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Education_Readiness_Index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31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2E31-6D9C-4ACF-8424-E9D25FED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Design 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4A2D-5D1F-4BA1-BFDB-20FAB318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39" y="2820236"/>
            <a:ext cx="4174958" cy="3227638"/>
          </a:xfrm>
        </p:spPr>
        <p:txBody>
          <a:bodyPr>
            <a:normAutofit fontScale="92500" lnSpcReduction="10000"/>
          </a:bodyPr>
          <a:lstStyle/>
          <a:p>
            <a:r>
              <a:rPr lang="en-IN" sz="1400" b="1" dirty="0"/>
              <a:t>Dashboard Pages:</a:t>
            </a:r>
          </a:p>
          <a:p>
            <a:r>
              <a:rPr lang="en-IN" sz="1400" b="1" dirty="0"/>
              <a:t>Page 1:</a:t>
            </a:r>
            <a:r>
              <a:rPr lang="en-IN" sz="1400" dirty="0"/>
              <a:t> India’s elementary education dashboard</a:t>
            </a:r>
          </a:p>
          <a:p>
            <a:r>
              <a:rPr lang="en-IN" sz="1400" b="1" dirty="0"/>
              <a:t>Page 2:</a:t>
            </a:r>
            <a:r>
              <a:rPr lang="en-IN" sz="1400" dirty="0"/>
              <a:t> Enrollment and School Distribution</a:t>
            </a:r>
            <a:endParaRPr lang="en-IN" sz="800" dirty="0"/>
          </a:p>
          <a:p>
            <a:r>
              <a:rPr lang="en-IN" sz="1400" b="1" dirty="0"/>
              <a:t>Page 3: </a:t>
            </a:r>
            <a:r>
              <a:rPr lang="en-IN" sz="1400" dirty="0"/>
              <a:t>T</a:t>
            </a:r>
            <a:r>
              <a:rPr lang="en-US" sz="1500" dirty="0" err="1"/>
              <a:t>eacher</a:t>
            </a:r>
            <a:r>
              <a:rPr lang="en-US" sz="1500" dirty="0"/>
              <a:t> Availability vs Student Attendance</a:t>
            </a:r>
          </a:p>
          <a:p>
            <a:r>
              <a:rPr lang="en-US" sz="1500" b="1" dirty="0"/>
              <a:t> </a:t>
            </a:r>
            <a:r>
              <a:rPr lang="en-IN" sz="1400" b="1" dirty="0"/>
              <a:t>Page 4:</a:t>
            </a:r>
            <a:r>
              <a:rPr lang="en-IN" sz="1400" dirty="0"/>
              <a:t> Infrastructure Quality Index</a:t>
            </a:r>
          </a:p>
          <a:p>
            <a:r>
              <a:rPr lang="en-IN" sz="1400" b="1" dirty="0"/>
              <a:t>Page 5:</a:t>
            </a:r>
            <a:r>
              <a:rPr lang="en-IN" sz="1400" dirty="0"/>
              <a:t> Gender and Equity Analysis</a:t>
            </a:r>
          </a:p>
          <a:p>
            <a:r>
              <a:rPr lang="en-IN" sz="1400" b="1" dirty="0"/>
              <a:t>Page 6:</a:t>
            </a:r>
            <a:r>
              <a:rPr lang="en-IN" sz="1400" dirty="0"/>
              <a:t> Composite Education Readiness Score</a:t>
            </a:r>
          </a:p>
          <a:p>
            <a:r>
              <a:rPr lang="en-IN" sz="1400" b="1" dirty="0"/>
              <a:t>Design Flow:</a:t>
            </a:r>
          </a:p>
          <a:p>
            <a:r>
              <a:rPr lang="en-IN" sz="1400" dirty="0"/>
              <a:t>Consistent colour palette (Education theme: lavender, purple)</a:t>
            </a:r>
          </a:p>
          <a:p>
            <a:r>
              <a:rPr lang="en-IN" sz="1400" dirty="0"/>
              <a:t>Slicers for State &amp; Year interactivity.</a:t>
            </a:r>
          </a:p>
          <a:p>
            <a:endParaRPr lang="en-IN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AB0F7-D1FA-4C3C-B6FE-C56D97B1E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510" y="2539947"/>
            <a:ext cx="5996048" cy="3159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51B59-44ED-40FF-90DC-6A68A36F9476}"/>
              </a:ext>
            </a:extLst>
          </p:cNvPr>
          <p:cNvSpPr txBox="1"/>
          <p:nvPr/>
        </p:nvSpPr>
        <p:spPr>
          <a:xfrm>
            <a:off x="7253505" y="5699666"/>
            <a:ext cx="406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dashboard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22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B922-03DF-424F-8BDD-3A68CA7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 and Analytics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8CCE48-A825-4756-9FC9-FC0B076569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5509" y="2172994"/>
            <a:ext cx="4207042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 has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10 million schools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million teachers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   all states.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Readiness Index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47.34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moderate progress nationwide.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Enrollment peaked around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2012–2013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strong engagement before a slight decline.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Uttar Pradesh, Madhya Pradesh, and Maharashtra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 in school and teacher count.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62E547-0FB1-4994-8B7E-BDA3D9124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72994"/>
            <a:ext cx="5804976" cy="329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4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E7B9-CCED-4AB5-87E8-4B814F2E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Recommendations or Policy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0AFB-18CC-4D5A-BA7A-E081F2C6E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979" y="2245376"/>
            <a:ext cx="4848726" cy="2778459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Recommendations:</a:t>
            </a:r>
          </a:p>
          <a:p>
            <a:r>
              <a:rPr lang="en-US" sz="1400" b="1" dirty="0"/>
              <a:t>Improve staffing ratios</a:t>
            </a:r>
            <a:r>
              <a:rPr lang="en-US" sz="1400" dirty="0"/>
              <a:t> in low-readiness districts through teacher redistribution.</a:t>
            </a:r>
          </a:p>
          <a:p>
            <a:r>
              <a:rPr lang="en-US" sz="1400" b="1" dirty="0"/>
              <a:t>Target infrastructure upgrades</a:t>
            </a:r>
            <a:r>
              <a:rPr lang="en-US" sz="1400" dirty="0"/>
              <a:t> (water, toilets) where female participation lags.</a:t>
            </a:r>
          </a:p>
          <a:p>
            <a:r>
              <a:rPr lang="en-US" sz="1400" dirty="0"/>
              <a:t>Launch </a:t>
            </a:r>
            <a:r>
              <a:rPr lang="en-US" sz="1400" b="1" dirty="0"/>
              <a:t>district-level performance monitoring</a:t>
            </a:r>
            <a:r>
              <a:rPr lang="en-US" sz="1400" dirty="0"/>
              <a:t> using Education Readiness Index.</a:t>
            </a:r>
          </a:p>
          <a:p>
            <a:r>
              <a:rPr lang="en-US" sz="1400" dirty="0"/>
              <a:t>Encourage </a:t>
            </a:r>
            <a:r>
              <a:rPr lang="en-US" sz="1400" b="1" dirty="0"/>
              <a:t>public-private partnerships</a:t>
            </a:r>
            <a:r>
              <a:rPr lang="en-US" sz="1400" dirty="0"/>
              <a:t> to fill school infrastructure gaps.</a:t>
            </a:r>
          </a:p>
          <a:p>
            <a:r>
              <a:rPr lang="en-US" sz="1400" dirty="0"/>
              <a:t>Regular </a:t>
            </a:r>
            <a:r>
              <a:rPr lang="en-US" sz="1400" b="1" dirty="0"/>
              <a:t>data audits</a:t>
            </a:r>
            <a:r>
              <a:rPr lang="en-US" sz="1400" dirty="0"/>
              <a:t> to keep the readiness dashboard dynamic and up to date.</a:t>
            </a:r>
          </a:p>
          <a:p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89BE4-8CFE-48EE-9ED1-4BAF3E5F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58" y="2278092"/>
            <a:ext cx="6297054" cy="356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3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7A82-407E-4457-9CB2-A5071396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and Learning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ABF20-D20A-4CFC-AB22-83AFA0DD5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/>
              <a:t>Conclusion: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Education Readiness Index (ERI)</a:t>
            </a:r>
            <a:r>
              <a:rPr lang="en-US" sz="1800" dirty="0"/>
              <a:t> offers a comprehensive snapshot of India’s elementary education system.</a:t>
            </a:r>
          </a:p>
          <a:p>
            <a:r>
              <a:rPr lang="en-US" sz="1800" dirty="0"/>
              <a:t>Combining infrastructure, staffing, and enrollment gives a </a:t>
            </a:r>
            <a:r>
              <a:rPr lang="en-US" sz="1800" b="1" dirty="0"/>
              <a:t>data-driven view of educational health</a:t>
            </a:r>
            <a:r>
              <a:rPr lang="en-US" sz="1800" dirty="0"/>
              <a:t>.</a:t>
            </a:r>
          </a:p>
          <a:p>
            <a:r>
              <a:rPr lang="en-US" sz="1800" dirty="0"/>
              <a:t>This framework can guide </a:t>
            </a:r>
            <a:r>
              <a:rPr lang="en-US" sz="1800" b="1" dirty="0"/>
              <a:t>policy, budget allocation</a:t>
            </a:r>
            <a:r>
              <a:rPr lang="en-US" sz="1800" dirty="0"/>
              <a:t>, and </a:t>
            </a:r>
            <a:r>
              <a:rPr lang="en-US" sz="1800" b="1" dirty="0"/>
              <a:t>performance improvement programs</a:t>
            </a:r>
            <a:r>
              <a:rPr lang="en-US" sz="1800" dirty="0"/>
              <a:t>.</a:t>
            </a:r>
          </a:p>
          <a:p>
            <a:r>
              <a:rPr lang="en-US" sz="1800" b="1" dirty="0"/>
              <a:t>Learnings:</a:t>
            </a:r>
          </a:p>
          <a:p>
            <a:r>
              <a:rPr lang="en-US" sz="1800" dirty="0"/>
              <a:t>Strength in </a:t>
            </a:r>
            <a:r>
              <a:rPr lang="en-US" sz="1800" b="1" dirty="0"/>
              <a:t>data cleaning and transformation using Python + Power BI</a:t>
            </a:r>
            <a:r>
              <a:rPr lang="en-US" sz="1800" dirty="0"/>
              <a:t>.</a:t>
            </a:r>
          </a:p>
          <a:p>
            <a:r>
              <a:rPr lang="en-US" sz="1800" dirty="0"/>
              <a:t>Building </a:t>
            </a:r>
            <a:r>
              <a:rPr lang="en-US" sz="1800" b="1" dirty="0"/>
              <a:t>multi-layer dashboards</a:t>
            </a:r>
            <a:r>
              <a:rPr lang="en-US" sz="1800" dirty="0"/>
              <a:t> with calculated measures &amp; DAX.</a:t>
            </a:r>
          </a:p>
          <a:p>
            <a:r>
              <a:rPr lang="en-US" sz="1800" dirty="0"/>
              <a:t>Translating data into actionable insights for </a:t>
            </a:r>
            <a:r>
              <a:rPr lang="en-US" sz="1800" b="1" dirty="0"/>
              <a:t>real-world policy outcomes</a:t>
            </a:r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8774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34B9-495F-450E-9546-FCCE0AAC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944F-8265-4CF6-ADCA-A188B76D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61738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68</TotalTime>
  <Words>643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Unicode MS</vt:lpstr>
      <vt:lpstr>Trebuchet MS</vt:lpstr>
      <vt:lpstr>Berlin</vt:lpstr>
      <vt:lpstr>Team name : the  measure makers </vt:lpstr>
      <vt:lpstr>Objectives and rationale</vt:lpstr>
      <vt:lpstr>Data Understanding &amp; Cleaning Summary</vt:lpstr>
      <vt:lpstr>Dashboard Design and Structure</vt:lpstr>
      <vt:lpstr>Key Insights and Analytics</vt:lpstr>
      <vt:lpstr>Recommendations or Policy Implications</vt:lpstr>
      <vt:lpstr>Conclusion and Learning 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Yogesh Behera</dc:creator>
  <cp:lastModifiedBy>Varun kumar</cp:lastModifiedBy>
  <cp:revision>7</cp:revision>
  <dcterms:created xsi:type="dcterms:W3CDTF">2025-11-03T20:42:36Z</dcterms:created>
  <dcterms:modified xsi:type="dcterms:W3CDTF">2025-11-04T02:15:54Z</dcterms:modified>
</cp:coreProperties>
</file>